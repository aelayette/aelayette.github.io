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notesMasterIdLst>
    <p:notesMasterId r:id="rId6"/>
  </p:notesMasterIdLst>
  <p:sldIdLst>
    <p:sldId id="256" r:id="rId5"/>
  </p:sldIdLst>
  <p:sldSz cx="43205400" cy="32404050"/>
  <p:notesSz cx="7315200" cy="9601200"/>
  <p:defaultTextStyle>
    <a:defPPr>
      <a:defRPr lang="en-US"/>
    </a:defPPr>
    <a:lvl1pPr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1pPr>
    <a:lvl2pPr marL="2159000" indent="-1701800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2pPr>
    <a:lvl3pPr marL="4319588" indent="-3405188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3pPr>
    <a:lvl4pPr marL="6480175" indent="-5108575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4pPr>
    <a:lvl5pPr marL="8640763" indent="-6811963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6">
          <p15:clr>
            <a:srgbClr val="A4A3A4"/>
          </p15:clr>
        </p15:guide>
        <p15:guide id="2" pos="13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97E"/>
    <a:srgbClr val="8EB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6327"/>
  </p:normalViewPr>
  <p:slideViewPr>
    <p:cSldViewPr snapToObjects="1">
      <p:cViewPr varScale="1">
        <p:scale>
          <a:sx n="17" d="100"/>
          <a:sy n="17" d="100"/>
        </p:scale>
        <p:origin x="1266" y="144"/>
      </p:cViewPr>
      <p:guideLst>
        <p:guide orient="horz" pos="10206"/>
        <p:guide pos="13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C2F71-2D81-43D1-A700-2C1A99ABF91D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0C0FE-9B9F-45D4-9C2D-961E0BF5DA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819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0C0FE-9B9F-45D4-9C2D-961E0BF5DAC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2693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9710" y="29349205"/>
            <a:ext cx="43251120" cy="3054845"/>
          </a:xfrm>
          <a:prstGeom prst="rect">
            <a:avLst/>
          </a:prstGeom>
          <a:solidFill>
            <a:srgbClr val="104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65"/>
          <p:cNvGrpSpPr>
            <a:grpSpLocks/>
          </p:cNvGrpSpPr>
          <p:nvPr userDrawn="1"/>
        </p:nvGrpSpPr>
        <p:grpSpPr bwMode="auto">
          <a:xfrm>
            <a:off x="-89710" y="29523505"/>
            <a:ext cx="43251120" cy="365760"/>
            <a:chOff x="0" y="3766"/>
            <a:chExt cx="5760" cy="64"/>
          </a:xfrm>
        </p:grpSpPr>
        <p:sp>
          <p:nvSpPr>
            <p:cNvPr id="10" name="Rectangle 50"/>
            <p:cNvSpPr>
              <a:spLocks noChangeArrowheads="1"/>
            </p:cNvSpPr>
            <p:nvPr/>
          </p:nvSpPr>
          <p:spPr bwMode="auto">
            <a:xfrm>
              <a:off x="1161" y="3766"/>
              <a:ext cx="1104" cy="64"/>
            </a:xfrm>
            <a:prstGeom prst="rect">
              <a:avLst/>
            </a:prstGeom>
            <a:solidFill>
              <a:srgbClr val="7BB652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" name="Rectangle 51"/>
            <p:cNvSpPr>
              <a:spLocks noChangeArrowheads="1"/>
            </p:cNvSpPr>
            <p:nvPr/>
          </p:nvSpPr>
          <p:spPr bwMode="auto">
            <a:xfrm>
              <a:off x="2301" y="3766"/>
              <a:ext cx="1120" cy="64"/>
            </a:xfrm>
            <a:prstGeom prst="rect">
              <a:avLst/>
            </a:prstGeom>
            <a:solidFill>
              <a:srgbClr val="EBB631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2" name="Rectangle 52"/>
            <p:cNvSpPr>
              <a:spLocks noChangeArrowheads="1"/>
            </p:cNvSpPr>
            <p:nvPr/>
          </p:nvSpPr>
          <p:spPr bwMode="auto">
            <a:xfrm>
              <a:off x="3457" y="3766"/>
              <a:ext cx="1142" cy="64"/>
            </a:xfrm>
            <a:prstGeom prst="rect">
              <a:avLst/>
            </a:prstGeom>
            <a:solidFill>
              <a:srgbClr val="DE8C2F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3" name="Rectangle 53"/>
            <p:cNvSpPr>
              <a:spLocks noChangeArrowheads="1"/>
            </p:cNvSpPr>
            <p:nvPr/>
          </p:nvSpPr>
          <p:spPr bwMode="auto">
            <a:xfrm>
              <a:off x="4635" y="3766"/>
              <a:ext cx="1125" cy="64"/>
            </a:xfrm>
            <a:prstGeom prst="rect">
              <a:avLst/>
            </a:prstGeom>
            <a:solidFill>
              <a:srgbClr val="CC3429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4" name="Rectangle 54"/>
            <p:cNvSpPr>
              <a:spLocks noChangeArrowheads="1"/>
            </p:cNvSpPr>
            <p:nvPr/>
          </p:nvSpPr>
          <p:spPr bwMode="auto">
            <a:xfrm>
              <a:off x="0" y="3766"/>
              <a:ext cx="1125" cy="64"/>
            </a:xfrm>
            <a:prstGeom prst="rect">
              <a:avLst/>
            </a:prstGeom>
            <a:solidFill>
              <a:srgbClr val="008BA5"/>
            </a:solidFill>
            <a:ln w="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16" name="Picture 15" descr="nscc_logo_BIG_whi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54281" y="30288590"/>
            <a:ext cx="6818752" cy="1737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B1D46D-29AA-43BF-A3D5-BEB3495DF774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31B7FC-87E9-44EA-AAF8-94D3C7E90BE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929" y="20822605"/>
            <a:ext cx="36724590" cy="6435804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929" y="13734221"/>
            <a:ext cx="36724590" cy="7088384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859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718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4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2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158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901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87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840999-55D0-4597-863C-92554F7AA06A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643BC4-B5B7-469D-AB2D-AE2045F43CC1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08778" y="35726968"/>
            <a:ext cx="91503934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32810" y="35726968"/>
            <a:ext cx="91503939" cy="101045127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51E4F7-2696-42D5-9872-B2231B2E58CB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A15FC2-F196-4E97-83A8-6EF0E771B7AE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253409"/>
            <a:ext cx="19089888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0270" y="10276284"/>
            <a:ext cx="19089888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7750" y="7253409"/>
            <a:ext cx="19097387" cy="3022875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859" indent="0">
              <a:buNone/>
              <a:defRPr sz="9500" b="1"/>
            </a:lvl2pPr>
            <a:lvl3pPr marL="4319718" indent="0">
              <a:buNone/>
              <a:defRPr sz="8500" b="1"/>
            </a:lvl3pPr>
            <a:lvl4pPr marL="6479577" indent="0">
              <a:buNone/>
              <a:defRPr sz="7600" b="1"/>
            </a:lvl4pPr>
            <a:lvl5pPr marL="8639440" indent="0">
              <a:buNone/>
              <a:defRPr sz="7600" b="1"/>
            </a:lvl5pPr>
            <a:lvl6pPr marL="10799299" indent="0">
              <a:buNone/>
              <a:defRPr sz="7600" b="1"/>
            </a:lvl6pPr>
            <a:lvl7pPr marL="12959158" indent="0">
              <a:buNone/>
              <a:defRPr sz="7600" b="1"/>
            </a:lvl7pPr>
            <a:lvl8pPr marL="15119017" indent="0">
              <a:buNone/>
              <a:defRPr sz="7600" b="1"/>
            </a:lvl8pPr>
            <a:lvl9pPr marL="17278876" indent="0">
              <a:buNone/>
              <a:defRPr sz="7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7750" y="10276284"/>
            <a:ext cx="19097387" cy="18669836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01187C-3E03-4BF0-9ADC-1EF0984621EF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899137-84AE-4618-A682-E30A90374C56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A0197-925E-4DB7-B4C6-A166A7B9428B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12512-9E0C-49C9-AEC8-04EE8B75249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CCA12A-53EF-4B92-B672-7452B988BC94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25B12C-5E29-42F7-BB46-F2344359CBE2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7" y="1290161"/>
            <a:ext cx="14214279" cy="5490686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2111" y="1290168"/>
            <a:ext cx="24153019" cy="27655959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0277" y="6780854"/>
            <a:ext cx="14214279" cy="221652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F2CCB-5EC5-4AB2-BF87-73BD76F1900D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5BD30-87B4-4379-ABD8-0397080F4E5D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561" y="22682835"/>
            <a:ext cx="25923240" cy="2677837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8561" y="2895362"/>
            <a:ext cx="25923240" cy="19442430"/>
          </a:xfrm>
        </p:spPr>
        <p:txBody>
          <a:bodyPr/>
          <a:lstStyle>
            <a:lvl1pPr marL="0" indent="0">
              <a:buNone/>
              <a:defRPr sz="15100"/>
            </a:lvl1pPr>
            <a:lvl2pPr marL="2159859" indent="0">
              <a:buNone/>
              <a:defRPr sz="13200"/>
            </a:lvl2pPr>
            <a:lvl3pPr marL="4319718" indent="0">
              <a:buNone/>
              <a:defRPr sz="11300"/>
            </a:lvl3pPr>
            <a:lvl4pPr marL="6479577" indent="0">
              <a:buNone/>
              <a:defRPr sz="9500"/>
            </a:lvl4pPr>
            <a:lvl5pPr marL="8639440" indent="0">
              <a:buNone/>
              <a:defRPr sz="9500"/>
            </a:lvl5pPr>
            <a:lvl6pPr marL="10799299" indent="0">
              <a:buNone/>
              <a:defRPr sz="9500"/>
            </a:lvl6pPr>
            <a:lvl7pPr marL="12959158" indent="0">
              <a:buNone/>
              <a:defRPr sz="9500"/>
            </a:lvl7pPr>
            <a:lvl8pPr marL="15119017" indent="0">
              <a:buNone/>
              <a:defRPr sz="9500"/>
            </a:lvl8pPr>
            <a:lvl9pPr marL="17278876" indent="0">
              <a:buNone/>
              <a:defRPr sz="9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8561" y="25360672"/>
            <a:ext cx="25923240" cy="3802973"/>
          </a:xfrm>
        </p:spPr>
        <p:txBody>
          <a:bodyPr/>
          <a:lstStyle>
            <a:lvl1pPr marL="0" indent="0">
              <a:buNone/>
              <a:defRPr sz="6600"/>
            </a:lvl1pPr>
            <a:lvl2pPr marL="2159859" indent="0">
              <a:buNone/>
              <a:defRPr sz="5700"/>
            </a:lvl2pPr>
            <a:lvl3pPr marL="4319718" indent="0">
              <a:buNone/>
              <a:defRPr sz="4700"/>
            </a:lvl3pPr>
            <a:lvl4pPr marL="6479577" indent="0">
              <a:buNone/>
              <a:defRPr sz="4300"/>
            </a:lvl4pPr>
            <a:lvl5pPr marL="8639440" indent="0">
              <a:buNone/>
              <a:defRPr sz="4300"/>
            </a:lvl5pPr>
            <a:lvl6pPr marL="10799299" indent="0">
              <a:buNone/>
              <a:defRPr sz="4300"/>
            </a:lvl6pPr>
            <a:lvl7pPr marL="12959158" indent="0">
              <a:buNone/>
              <a:defRPr sz="4300"/>
            </a:lvl7pPr>
            <a:lvl8pPr marL="15119017" indent="0">
              <a:buNone/>
              <a:defRPr sz="4300"/>
            </a:lvl8pPr>
            <a:lvl9pPr marL="17278876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83F561-ABC0-464F-92EC-80096123B5D8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FFD9FD-EB94-47EC-BBC9-3D9FC9CFEE37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8BF4-9B66-4F6C-AE9A-554FF46DBA45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A19ED-B113-4F29-BF9A-B76AB1F47BC8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8008506" y="6128275"/>
            <a:ext cx="45928243" cy="130643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08779" y="6128275"/>
            <a:ext cx="137079630" cy="130643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5D0903-15FE-4E44-A7B2-62D390562A91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F5B9B-2278-4022-A658-6EAC319FB543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0270" y="1297665"/>
            <a:ext cx="38884860" cy="5400675"/>
          </a:xfrm>
          <a:prstGeom prst="rect">
            <a:avLst/>
          </a:prstGeom>
        </p:spPr>
        <p:txBody>
          <a:bodyPr vert="horz" lIns="431974" tIns="215984" rIns="431974" bIns="21598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560952"/>
            <a:ext cx="38884860" cy="21385175"/>
          </a:xfrm>
          <a:prstGeom prst="rect">
            <a:avLst/>
          </a:prstGeom>
        </p:spPr>
        <p:txBody>
          <a:bodyPr vert="horz" lIns="431974" tIns="215984" rIns="431974" bIns="21598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602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2AAB783-6C48-4038-A4CC-2E8D3CBC4F5B}" type="datetimeFigureOut">
              <a:rPr lang="en-US" smtClean="0"/>
              <a:pPr>
                <a:defRPr/>
              </a:pPr>
              <a:t>3/24/2026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761845" y="30033761"/>
            <a:ext cx="1368171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63870" y="30033761"/>
            <a:ext cx="10081260" cy="1725216"/>
          </a:xfrm>
          <a:prstGeom prst="rect">
            <a:avLst/>
          </a:prstGeom>
        </p:spPr>
        <p:txBody>
          <a:bodyPr vert="horz" lIns="431974" tIns="215984" rIns="431974" bIns="215984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807C68A-3A6E-4F35-8A7D-63B78ACB8D6A}" type="slidenum">
              <a:rPr lang="en-CA" smtClean="0"/>
              <a:pPr>
                <a:defRPr/>
              </a:pPr>
              <a:t>‹#›</a:t>
            </a:fld>
            <a:endParaRPr lang="en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defTabSz="4319718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95" indent="-1619895" algn="l" defTabSz="4319718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773" indent="-1349914" algn="l" defTabSz="4319718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650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509" indent="-1079932" algn="l" defTabSz="4319718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9368" indent="-1079932" algn="l" defTabSz="4319718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9226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085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944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808" indent="-1079932" algn="l" defTabSz="4319718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5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1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7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440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299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158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9017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876" algn="l" defTabSz="4319718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11362379" y="6843420"/>
            <a:ext cx="20482560" cy="3081528"/>
          </a:xfrm>
          <a:prstGeom prst="rect">
            <a:avLst/>
          </a:prstGeom>
          <a:solidFill>
            <a:srgbClr val="E8F8EF"/>
          </a:solidFill>
          <a:ln w="19050">
            <a:solidFill>
              <a:srgbClr val="38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1144588" y="3304692"/>
            <a:ext cx="21031200" cy="2423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19415" y="3341268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681615" y="3118919"/>
            <a:ext cx="10058400" cy="242316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marL="1143000" indent="-114300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9831" y="294322"/>
            <a:ext cx="42976800" cy="2641220"/>
          </a:xfrm>
          <a:prstGeom prst="roundRect">
            <a:avLst/>
          </a:prstGeom>
          <a:solidFill>
            <a:srgbClr val="E639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 b="1" dirty="0">
              <a:latin typeface="Book Antiqua" panose="0204060205030503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06899" y="493030"/>
            <a:ext cx="39319200" cy="2031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 dirty="0">
                <a:solidFill>
                  <a:srgbClr val="FFFFFF"/>
                </a:solidFill>
                <a:latin typeface="Calibri"/>
              </a:rPr>
              <a:t>S.I.R.E. — Simulated Incident Response Environment</a:t>
            </a:r>
            <a:r>
              <a:rPr lang="en-US" sz="7200" b="1" dirty="0">
                <a:solidFill>
                  <a:srgbClr val="FFFFFF"/>
                </a:solidFill>
                <a:latin typeface="Calibri"/>
              </a:rPr>
              <a:t>                                  </a:t>
            </a:r>
            <a:endParaRPr sz="7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3000" b="1" dirty="0">
                <a:solidFill>
                  <a:srgbClr val="FFDDDD"/>
                </a:solidFill>
                <a:latin typeface="Calibri"/>
              </a:rPr>
              <a:t>Team Nibble  ·  NSCC  ·  PROG 3300 — Integrated Projects for Programming  ·  Instructor: Alfred Parkes</a:t>
            </a:r>
          </a:p>
          <a:p>
            <a:pPr algn="ctr"/>
            <a:r>
              <a:rPr sz="2400" i="1" dirty="0">
                <a:solidFill>
                  <a:srgbClr val="FFCCCC"/>
                </a:solidFill>
                <a:latin typeface="Calibri"/>
              </a:rPr>
              <a:t>A real-time emergency response training platform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650" y="4177044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248" y="4969080"/>
            <a:ext cx="95097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Real-time event broadcasting via WebSocket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Scenario loading with timed, auto-escalating injects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Admin controls — start, pause, escalate, end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Trainee decision and action submission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Branching scenario logic with severity levels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Session key generation (6-character codes)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Live progress monitoring for instructors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Feedback and post-exercise results display</a:t>
            </a:r>
          </a:p>
          <a:p>
            <a:pPr marL="256032" indent="-182880" algn="l">
              <a:buChar char="•"/>
            </a:pPr>
            <a:r>
              <a:rPr sz="2800" dirty="0" err="1">
                <a:solidFill>
                  <a:srgbClr val="1A1A1A"/>
                </a:solidFill>
                <a:latin typeface="Calibri"/>
              </a:rPr>
              <a:t>Colour</a:t>
            </a:r>
            <a:r>
              <a:rPr sz="2800" dirty="0">
                <a:solidFill>
                  <a:srgbClr val="1A1A1A"/>
                </a:solidFill>
                <a:latin typeface="Calibri"/>
              </a:rPr>
              <a:t>-coded severity indicators (info/warning/critical)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Multi-user rooms with automatic reconnection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4171" y="9583547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9415" y="965508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Scope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856" y="10249182"/>
            <a:ext cx="950976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Full-stack JS web application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Admin dashboard + trainee interface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Real-time WebSocket communication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Eight complete emergency scenarios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Session-based access (admin/trainee)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Free-tier cloud deployment</a:t>
            </a:r>
          </a:p>
          <a:p>
            <a:pPr marL="256032" indent="-182880" algn="l">
              <a:buChar char="•"/>
            </a:pPr>
            <a:r>
              <a:rPr sz="2800" dirty="0">
                <a:solidFill>
                  <a:srgbClr val="1A1A1A"/>
                </a:solidFill>
                <a:latin typeface="Calibri"/>
              </a:rPr>
              <a:t>Documentation + testing artefacts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0431" y="13356106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4832" y="134405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Roles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7529" y="14176908"/>
            <a:ext cx="502920" cy="5029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TB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4251" y="14146283"/>
            <a:ext cx="88971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C1121F"/>
                </a:solidFill>
                <a:latin typeface="Calibri"/>
              </a:rPr>
              <a:t>Backend &amp; Real-Time Lead</a:t>
            </a:r>
          </a:p>
          <a:p>
            <a:r>
              <a:rPr sz="2800" b="1" dirty="0">
                <a:solidFill>
                  <a:srgbClr val="1A1A1A"/>
                </a:solidFill>
                <a:latin typeface="Calibri"/>
              </a:rPr>
              <a:t>Tom Burchell</a:t>
            </a:r>
          </a:p>
          <a:p>
            <a:r>
              <a:rPr sz="2800" dirty="0">
                <a:solidFill>
                  <a:srgbClr val="555555"/>
                </a:solidFill>
                <a:latin typeface="Calibri"/>
              </a:rPr>
              <a:t>Socket.IO engine · scenario logic · server architecture · CI/CD · cloud deployment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1331" y="16297153"/>
            <a:ext cx="50292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58141" y="16229765"/>
            <a:ext cx="91545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C1121F"/>
                </a:solidFill>
                <a:latin typeface="Calibri"/>
              </a:rPr>
              <a:t>Frontend &amp; UI/UX Lead</a:t>
            </a:r>
          </a:p>
          <a:p>
            <a:r>
              <a:rPr sz="2800" b="1" dirty="0">
                <a:solidFill>
                  <a:srgbClr val="1A1A1A"/>
                </a:solidFill>
                <a:latin typeface="Calibri"/>
              </a:rPr>
              <a:t>Leon </a:t>
            </a:r>
            <a:r>
              <a:rPr sz="2800" b="1" dirty="0" err="1">
                <a:solidFill>
                  <a:srgbClr val="1A1A1A"/>
                </a:solidFill>
                <a:latin typeface="Calibri"/>
              </a:rPr>
              <a:t>Wasiliew</a:t>
            </a:r>
            <a:endParaRPr sz="2800" b="1" dirty="0">
              <a:solidFill>
                <a:srgbClr val="1A1A1A"/>
              </a:solidFill>
              <a:latin typeface="Calibri"/>
            </a:endParaRPr>
          </a:p>
          <a:p>
            <a:r>
              <a:rPr sz="2800" dirty="0">
                <a:solidFill>
                  <a:srgbClr val="555555"/>
                </a:solidFill>
                <a:latin typeface="Calibri"/>
              </a:rPr>
              <a:t>React UI · layouts · real-time state updates · responsive design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1331" y="17887046"/>
            <a:ext cx="546810" cy="530352"/>
          </a:xfrm>
          <a:prstGeom prst="roundRect">
            <a:avLst/>
          </a:prstGeom>
          <a:solidFill>
            <a:srgbClr val="0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JH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58141" y="17767719"/>
            <a:ext cx="91421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C1121F"/>
                </a:solidFill>
                <a:latin typeface="Calibri"/>
              </a:rPr>
              <a:t>Script Master / QA</a:t>
            </a:r>
          </a:p>
          <a:p>
            <a:r>
              <a:rPr sz="2800" b="1" dirty="0">
                <a:solidFill>
                  <a:srgbClr val="1A1A1A"/>
                </a:solidFill>
                <a:latin typeface="Calibri"/>
              </a:rPr>
              <a:t>John Hay</a:t>
            </a:r>
          </a:p>
          <a:p>
            <a:r>
              <a:rPr sz="2800" dirty="0">
                <a:solidFill>
                  <a:srgbClr val="555555"/>
                </a:solidFill>
                <a:latin typeface="Calibri"/>
              </a:rPr>
              <a:t>Scenario writing · integration testing · accessibility review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3276" y="19485832"/>
            <a:ext cx="502920" cy="5319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KP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32782" y="19487702"/>
            <a:ext cx="91421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C1121F"/>
                </a:solidFill>
                <a:latin typeface="Calibri"/>
              </a:rPr>
              <a:t>Project Manager</a:t>
            </a:r>
          </a:p>
          <a:p>
            <a:r>
              <a:rPr sz="2800" b="1" dirty="0">
                <a:solidFill>
                  <a:srgbClr val="1A1A1A"/>
                </a:solidFill>
                <a:latin typeface="Calibri"/>
              </a:rPr>
              <a:t>Kael Payette</a:t>
            </a:r>
          </a:p>
          <a:p>
            <a:r>
              <a:rPr sz="2800" dirty="0">
                <a:solidFill>
                  <a:srgbClr val="555555"/>
                </a:solidFill>
                <a:latin typeface="Calibri"/>
              </a:rPr>
              <a:t>Coordination · documentation · Git workflow · standards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62379" y="4191660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Description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21923" y="4914036"/>
            <a:ext cx="18272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1A1A1A"/>
                </a:solidFill>
                <a:latin typeface="Calibri"/>
              </a:rPr>
              <a:t>A full-stack, real-time simulation platform for practicing emergency response scenarios. Built with Node.js, Express, Socket.IO, and React, SIRE enables instructors to run dynamic, escalating incident simulations while trainees respond in real time.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362379" y="6157620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362379" y="6267348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Architecture (ERD)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99539" y="6980580"/>
            <a:ext cx="9852660" cy="594360"/>
          </a:xfrm>
          <a:prstGeom prst="rect">
            <a:avLst/>
          </a:prstGeom>
          <a:solidFill>
            <a:srgbClr val="DAEEFF"/>
          </a:solidFill>
          <a:ln w="19050">
            <a:solidFill>
              <a:srgbClr val="5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3C5C"/>
                </a:solidFill>
                <a:latin typeface="Calibri"/>
              </a:rPr>
              <a:t>Instructor Admin Dashboard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52199" y="6980580"/>
            <a:ext cx="502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555555"/>
                </a:solidFill>
                <a:latin typeface="Calibri"/>
              </a:rPr>
              <a:t>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855119" y="6980580"/>
            <a:ext cx="9852660" cy="594360"/>
          </a:xfrm>
          <a:prstGeom prst="rect">
            <a:avLst/>
          </a:prstGeom>
          <a:solidFill>
            <a:srgbClr val="DAEEFF"/>
          </a:solidFill>
          <a:ln w="19050">
            <a:solidFill>
              <a:srgbClr val="5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3C5C"/>
                </a:solidFill>
                <a:latin typeface="Calibri"/>
              </a:rPr>
              <a:t>Trainees React UI (×10+)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99539" y="7620660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↕ WebSocket / HTTP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99539" y="7913268"/>
            <a:ext cx="20208240" cy="594360"/>
          </a:xfrm>
          <a:prstGeom prst="rect">
            <a:avLst/>
          </a:prstGeom>
          <a:solidFill>
            <a:srgbClr val="DAFFEF"/>
          </a:solidFill>
          <a:ln w="19050">
            <a:solidFill>
              <a:srgbClr val="38B8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4028"/>
                </a:solidFill>
                <a:latin typeface="Calibri"/>
              </a:rPr>
              <a:t>⚡ Socket.IO Server  ·  Express REST API  ·  Node.js 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99539" y="8553348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  <a:latin typeface="Calibri"/>
              </a:rPr>
              <a:t>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99539" y="8845956"/>
            <a:ext cx="6699504" cy="594360"/>
          </a:xfrm>
          <a:prstGeom prst="rect">
            <a:avLst/>
          </a:prstGeom>
          <a:solidFill>
            <a:srgbClr val="FFE8E8"/>
          </a:solidFill>
          <a:ln w="19050">
            <a:solidFill>
              <a:srgbClr val="E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6B0000"/>
                </a:solidFill>
                <a:latin typeface="Calibri"/>
              </a:rPr>
              <a:t>In-Memory
Session Store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53907" y="8845956"/>
            <a:ext cx="6699504" cy="594360"/>
          </a:xfrm>
          <a:prstGeom prst="rect">
            <a:avLst/>
          </a:prstGeom>
          <a:solidFill>
            <a:srgbClr val="FFF5D6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5C3A00"/>
                </a:solidFill>
                <a:latin typeface="Calibri"/>
              </a:rPr>
              <a:t>Escalation
Engine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008275" y="8845956"/>
            <a:ext cx="6699504" cy="594360"/>
          </a:xfrm>
          <a:prstGeom prst="rect">
            <a:avLst/>
          </a:prstGeom>
          <a:solidFill>
            <a:srgbClr val="F2E8FF"/>
          </a:solidFill>
          <a:ln w="19050">
            <a:solidFill>
              <a:srgbClr val="A06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3A005C"/>
                </a:solidFill>
                <a:latin typeface="Calibri"/>
              </a:rPr>
              <a:t>Scenario
Registry (8)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99539" y="9531756"/>
            <a:ext cx="2020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  <a:latin typeface="Calibri"/>
              </a:rPr>
              <a:t>Rooms isolate sessions  ·  Events broadcast to all participants  ·  Automatic timeline progression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362379" y="10034676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362379" y="10144404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Calibri"/>
              </a:rPr>
              <a:t>Training Scenarios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362379" y="1072047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1434007" y="1077534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Active Threat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Lockdown, sweep, all-clear procedures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49379" y="1072047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1740819" y="1077534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C1121F"/>
                </a:solidFill>
                <a:latin typeface="Calibri"/>
              </a:rPr>
              <a:t>Fire Emergency</a:t>
            </a:r>
          </a:p>
          <a:p>
            <a:r>
              <a:rPr sz="1600" dirty="0">
                <a:solidFill>
                  <a:srgbClr val="555555"/>
                </a:solidFill>
                <a:latin typeface="Calibri"/>
              </a:rPr>
              <a:t>Alarm, evacuation, fire dept. handover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362379" y="1145199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1453819" y="1150686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Flood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Water intrusion, system protection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649379" y="1145199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1740819" y="1150686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Cyber Attack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Ransomware, network isolation, IR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362379" y="1218351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453819" y="1223838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Power Outage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UPS/generator failover, critical systems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649379" y="1218351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1740819" y="1223838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Severe Weather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Shelter-in-place, facility protection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362379" y="1291503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1453819" y="1296990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Medical Emergency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Cardiac event, first-aid, EMS coord.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649379" y="12915036"/>
            <a:ext cx="10195560" cy="658368"/>
          </a:xfrm>
          <a:prstGeom prst="rect">
            <a:avLst/>
          </a:prstGeom>
          <a:solidFill>
            <a:srgbClr val="FFF8F8"/>
          </a:solidFill>
          <a:ln w="12700">
            <a:solidFill>
              <a:srgbClr val="F4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1740819" y="12969900"/>
            <a:ext cx="10012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1121F"/>
                </a:solidFill>
                <a:latin typeface="Calibri"/>
              </a:rPr>
              <a:t>Hazmat Spill</a:t>
            </a:r>
          </a:p>
          <a:p>
            <a:r>
              <a:rPr sz="1600">
                <a:solidFill>
                  <a:srgbClr val="555555"/>
                </a:solidFill>
                <a:latin typeface="Calibri"/>
              </a:rPr>
              <a:t>Containment, PPE, decontamination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362379" y="13756284"/>
            <a:ext cx="204825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1362379" y="13866012"/>
            <a:ext cx="2048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Calibri"/>
              </a:rPr>
              <a:t>Application Mockups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362379" y="1444208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362379" y="14442084"/>
            <a:ext cx="6766560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1408099" y="1458838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Home Page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S.I.R.E. landing · scenario overview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220379" y="1444208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8220379" y="14442084"/>
            <a:ext cx="676656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8266099" y="1458838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Login Page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Email / password · role select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5078379" y="1444208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5078379" y="14442084"/>
            <a:ext cx="6766560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5124099" y="1458838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Admin Dashboard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Session key · inject controls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362379" y="1531076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1362379" y="15310764"/>
            <a:ext cx="6766560" cy="109728"/>
          </a:xfrm>
          <a:prstGeom prst="rect">
            <a:avLst/>
          </a:prstGeom>
          <a:solidFill>
            <a:srgbClr val="06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1408099" y="1545706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Trainee Interface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Live events · action submission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8220379" y="1531076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8220379" y="15310764"/>
            <a:ext cx="676656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8266099" y="1545706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Create Session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Scenario select · start session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5078379" y="15310764"/>
            <a:ext cx="6766560" cy="7772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25078379" y="15310764"/>
            <a:ext cx="6766560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5124099" y="15457068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1A1A"/>
                </a:solidFill>
                <a:latin typeface="Calibri"/>
              </a:rPr>
              <a:t>Join Session</a:t>
            </a:r>
          </a:p>
          <a:p>
            <a:r>
              <a:rPr sz="1800" dirty="0">
                <a:solidFill>
                  <a:srgbClr val="555555"/>
                </a:solidFill>
                <a:latin typeface="Calibri"/>
              </a:rPr>
              <a:t>6-char code · trainee onboarding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3070235" y="5672988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3070235" y="5709564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E63946"/>
                </a:solidFill>
                <a:latin typeface="Calibri"/>
              </a:rPr>
              <a:t>SWOT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070235" y="6358788"/>
            <a:ext cx="4718304" cy="1188720"/>
          </a:xfrm>
          <a:prstGeom prst="rect">
            <a:avLst/>
          </a:prstGeom>
          <a:solidFill>
            <a:srgbClr val="E8F8EF"/>
          </a:solidFill>
          <a:ln w="12700">
            <a:solidFill>
              <a:srgbClr val="A3D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3161675" y="6450228"/>
            <a:ext cx="4535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5C36"/>
                </a:solidFill>
                <a:latin typeface="Calibri"/>
              </a:rPr>
              <a:t>Strengths</a:t>
            </a:r>
          </a:p>
          <a:p>
            <a:r>
              <a:rPr sz="1800" dirty="0">
                <a:solidFill>
                  <a:srgbClr val="1A5C36"/>
                </a:solidFill>
                <a:latin typeface="Calibri"/>
              </a:rPr>
              <a:t>Real-time WebSocket; full-stack JS; modular scenarios; session isolation; no DB dependency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861691" y="6358788"/>
            <a:ext cx="4718304" cy="1188720"/>
          </a:xfrm>
          <a:prstGeom prst="rect">
            <a:avLst/>
          </a:prstGeom>
          <a:solidFill>
            <a:srgbClr val="FFF0E0"/>
          </a:solidFill>
          <a:ln w="12700">
            <a:solidFill>
              <a:srgbClr val="F4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7953131" y="6450228"/>
            <a:ext cx="45354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6B3800"/>
                </a:solidFill>
                <a:latin typeface="Calibri"/>
              </a:rPr>
              <a:t>Weaknesses</a:t>
            </a:r>
          </a:p>
          <a:p>
            <a:r>
              <a:rPr sz="1800" dirty="0">
                <a:solidFill>
                  <a:srgbClr val="6B3800"/>
                </a:solidFill>
                <a:latin typeface="Calibri"/>
              </a:rPr>
              <a:t>In-memory storage (no restart persistence); no persistent accounts; WAN latency risk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3070235" y="7620660"/>
            <a:ext cx="4718304" cy="1188720"/>
          </a:xfrm>
          <a:prstGeom prst="rect">
            <a:avLst/>
          </a:prstGeom>
          <a:solidFill>
            <a:srgbClr val="E8F0FF"/>
          </a:solidFill>
          <a:ln w="12700">
            <a:solidFill>
              <a:srgbClr val="A3B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3230763" y="7732928"/>
            <a:ext cx="4535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A2E6B"/>
                </a:solidFill>
                <a:latin typeface="Calibri"/>
              </a:rPr>
              <a:t>Opportunities</a:t>
            </a:r>
          </a:p>
          <a:p>
            <a:r>
              <a:rPr sz="1800" dirty="0">
                <a:solidFill>
                  <a:srgbClr val="1A2E6B"/>
                </a:solidFill>
                <a:latin typeface="Calibri"/>
              </a:rPr>
              <a:t>Persistent session logs; mobile-responsive client; expanded scenario library; LMS integration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861691" y="7620660"/>
            <a:ext cx="4718304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F4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37953131" y="7712100"/>
            <a:ext cx="453542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6B1A1A"/>
                </a:solidFill>
                <a:latin typeface="Calibri"/>
              </a:rPr>
              <a:t>Threats</a:t>
            </a:r>
          </a:p>
          <a:p>
            <a:r>
              <a:rPr sz="1800" dirty="0">
                <a:solidFill>
                  <a:srgbClr val="6B1A1A"/>
                </a:solidFill>
                <a:latin typeface="Calibri"/>
              </a:rPr>
              <a:t>Free-tier cold-starts; browser WebSocket restrictions; server restart clears active sessions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033659" y="8933257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33070235" y="909899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Calibri"/>
              </a:rPr>
              <a:t>Technology Stack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070235" y="967806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FRONTEND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070235" y="9934092"/>
            <a:ext cx="914400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3070235" y="993409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3C5C"/>
                </a:solidFill>
                <a:latin typeface="Calibri"/>
              </a:rPr>
              <a:t>React 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039499" y="9934092"/>
            <a:ext cx="1435608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4039499" y="9934092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3C5C"/>
                </a:solidFill>
                <a:latin typeface="Calibri"/>
              </a:rPr>
              <a:t>React Router 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5529971" y="9934092"/>
            <a:ext cx="740664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5529971" y="9934092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3C5C"/>
                </a:solidFill>
                <a:latin typeface="Calibri"/>
              </a:rPr>
              <a:t>Vite 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6325499" y="9934092"/>
            <a:ext cx="1783080" cy="292608"/>
          </a:xfrm>
          <a:prstGeom prst="rect">
            <a:avLst/>
          </a:prstGeom>
          <a:solidFill>
            <a:srgbClr val="DAEEFF"/>
          </a:solidFill>
          <a:ln w="6350">
            <a:solidFill>
              <a:srgbClr val="0A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36325499" y="9934092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3C5C"/>
                </a:solidFill>
                <a:latin typeface="Calibri"/>
              </a:rPr>
              <a:t>Socket.IO Client 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070235" y="1031814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BACKEND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3070235" y="10574172"/>
            <a:ext cx="1088136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3070235" y="10574172"/>
            <a:ext cx="10881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4028"/>
                </a:solidFill>
                <a:latin typeface="Calibri"/>
              </a:rPr>
              <a:t>Node.js 20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213235" y="10574172"/>
            <a:ext cx="1001268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4213235" y="10574172"/>
            <a:ext cx="100126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4028"/>
                </a:solidFill>
                <a:latin typeface="Calibri"/>
              </a:rPr>
              <a:t>Express 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5269367" y="10574172"/>
            <a:ext cx="1175004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5269367" y="10574172"/>
            <a:ext cx="117500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4028"/>
                </a:solidFill>
                <a:latin typeface="Calibri"/>
              </a:rPr>
              <a:t>Socket.IO 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499235" y="10574172"/>
            <a:ext cx="1088136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6499235" y="10574172"/>
            <a:ext cx="10881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4028"/>
                </a:solidFill>
                <a:latin typeface="Calibri"/>
              </a:rPr>
              <a:t>ES Modules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7642235" y="10574172"/>
            <a:ext cx="740664" cy="292608"/>
          </a:xfrm>
          <a:prstGeom prst="rect">
            <a:avLst/>
          </a:prstGeom>
          <a:solidFill>
            <a:srgbClr val="DAFFEF"/>
          </a:solidFill>
          <a:ln w="6350">
            <a:solidFill>
              <a:srgbClr val="0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7642235" y="10574172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A4028"/>
                </a:solidFill>
                <a:latin typeface="Calibri"/>
              </a:rPr>
              <a:t>Nanoid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070235" y="1095822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REAL-TIME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3070235" y="11214252"/>
            <a:ext cx="100126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3070235" y="11214252"/>
            <a:ext cx="100126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C3A00"/>
                </a:solidFill>
                <a:latin typeface="Calibri"/>
              </a:rPr>
              <a:t>WebSocket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4126367" y="11214252"/>
            <a:ext cx="1783080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4126367" y="11214252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C3A00"/>
                </a:solidFill>
                <a:latin typeface="Calibri"/>
              </a:rPr>
              <a:t>Long-Poll Fallback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5964311" y="11214252"/>
            <a:ext cx="143560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5964311" y="11214252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C3A00"/>
                </a:solidFill>
                <a:latin typeface="Calibri"/>
              </a:rPr>
              <a:t>Room Isolation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7454783" y="11214252"/>
            <a:ext cx="1435608" cy="292608"/>
          </a:xfrm>
          <a:prstGeom prst="rect">
            <a:avLst/>
          </a:prstGeom>
          <a:solidFill>
            <a:srgbClr val="FFF5D6"/>
          </a:solidFill>
          <a:ln w="6350">
            <a:solidFill>
              <a:srgbClr val="5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7454783" y="11214252"/>
            <a:ext cx="1435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C3A00"/>
                </a:solidFill>
                <a:latin typeface="Calibri"/>
              </a:rPr>
              <a:t>Auto-Reconnect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070235" y="1159830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DEVOPS &amp; DEPLOYMENT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3070235" y="11854332"/>
            <a:ext cx="1522476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3070235" y="11854332"/>
            <a:ext cx="152247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6B0000"/>
                </a:solidFill>
                <a:latin typeface="Calibri"/>
              </a:rPr>
              <a:t>Docker (Alpine)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4647575" y="11854332"/>
            <a:ext cx="1696212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4647575" y="11854332"/>
            <a:ext cx="169621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6B0000"/>
                </a:solidFill>
                <a:latin typeface="Calibri"/>
              </a:rPr>
              <a:t>GitHub Actions CI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6398651" y="11854332"/>
            <a:ext cx="827532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6398651" y="11854332"/>
            <a:ext cx="827532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6B0000"/>
                </a:solidFill>
                <a:latin typeface="Calibri"/>
              </a:rPr>
              <a:t>Railway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7281047" y="11854332"/>
            <a:ext cx="740664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7281047" y="11854332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6B0000"/>
                </a:solidFill>
                <a:latin typeface="Calibri"/>
              </a:rPr>
              <a:t>Render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8076575" y="11854332"/>
            <a:ext cx="740664" cy="292608"/>
          </a:xfrm>
          <a:prstGeom prst="rect">
            <a:avLst/>
          </a:prstGeom>
          <a:solidFill>
            <a:srgbClr val="FFE8E8"/>
          </a:solidFill>
          <a:ln w="6350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38076575" y="11840616"/>
            <a:ext cx="74066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6B0000"/>
                </a:solidFill>
                <a:latin typeface="Calibri"/>
              </a:rPr>
              <a:t>Heroku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070235" y="12348108"/>
            <a:ext cx="9509760" cy="36576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33070235" y="1245783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63946"/>
                </a:solidFill>
                <a:latin typeface="Calibri"/>
              </a:rPr>
              <a:t>Key Metrics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3070235" y="13033908"/>
            <a:ext cx="4709160" cy="96012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33115955" y="13143636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E63946"/>
                </a:solidFill>
                <a:latin typeface="Calibri"/>
              </a:rPr>
              <a:t>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3115955" y="13628268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SCENARIOS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7870835" y="13033908"/>
            <a:ext cx="4709160" cy="960120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7916555" y="13143636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4A90D9"/>
                </a:solidFill>
                <a:latin typeface="Calibri"/>
              </a:rPr>
              <a:t>10+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7916555" y="13628268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TRAINEES/SESSION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3070235" y="14085468"/>
            <a:ext cx="4709160" cy="960120"/>
          </a:xfrm>
          <a:prstGeom prst="rect">
            <a:avLst/>
          </a:prstGeom>
          <a:solidFill>
            <a:srgbClr val="E8F8E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3115955" y="14195196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6B88A"/>
                </a:solidFill>
                <a:latin typeface="Calibri"/>
              </a:rPr>
              <a:t>&lt;300ms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115955" y="14679828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EVENT LATENCY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7870835" y="14085468"/>
            <a:ext cx="4709160" cy="960120"/>
          </a:xfrm>
          <a:prstGeom prst="rect">
            <a:avLst/>
          </a:prstGeom>
          <a:solidFill>
            <a:srgbClr val="FFFD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37916555" y="14195196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D4A017"/>
                </a:solidFill>
                <a:latin typeface="Calibri"/>
              </a:rPr>
              <a:t>12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7916555" y="14679828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555555"/>
                </a:solidFill>
                <a:latin typeface="Calibri"/>
              </a:rPr>
              <a:t>WEEKS DEVELOPMENT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8600" y="29038576"/>
            <a:ext cx="42976800" cy="3017269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13123102" y="29393049"/>
            <a:ext cx="18721837" cy="2308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Calibri"/>
              </a:rPr>
              <a:t>S.I.R.E. — Simulated Incident Response Environment</a:t>
            </a:r>
          </a:p>
          <a:p>
            <a:pPr algn="l"/>
            <a:r>
              <a:rPr sz="3600" dirty="0">
                <a:solidFill>
                  <a:srgbClr val="FFDDDD"/>
                </a:solidFill>
                <a:latin typeface="Calibri"/>
              </a:rPr>
              <a:t>NSCC · PROG 3300 Integrated Projects for Programming · Instructor: Alfred Parkes  |  Team: Tom Burchell · Leon </a:t>
            </a:r>
            <a:r>
              <a:rPr sz="3600" dirty="0" err="1">
                <a:solidFill>
                  <a:srgbClr val="FFDDDD"/>
                </a:solidFill>
                <a:latin typeface="Calibri"/>
              </a:rPr>
              <a:t>Wasiliew</a:t>
            </a:r>
            <a:r>
              <a:rPr sz="3600" dirty="0">
                <a:solidFill>
                  <a:srgbClr val="FFDDDD"/>
                </a:solidFill>
                <a:latin typeface="Calibri"/>
              </a:rPr>
              <a:t> · John Hay · Kael Payette</a:t>
            </a:r>
          </a:p>
          <a:p>
            <a:pPr algn="l"/>
            <a:r>
              <a:rPr sz="3600" i="1" dirty="0">
                <a:solidFill>
                  <a:srgbClr val="FFCCCC"/>
                </a:solidFill>
                <a:latin typeface="Calibri"/>
              </a:rPr>
              <a:t>Scenario images: Gemini 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7710815" y="29845152"/>
            <a:ext cx="1280160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37710815" y="29845152"/>
            <a:ext cx="1280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Node.js 20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9082415" y="29845152"/>
            <a:ext cx="1069848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39082415" y="29845152"/>
            <a:ext cx="10698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0243703" y="29845152"/>
            <a:ext cx="1385316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40243703" y="29845152"/>
            <a:ext cx="138531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Socket.IO 4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1720459" y="29845152"/>
            <a:ext cx="1005840" cy="502920"/>
          </a:xfrm>
          <a:prstGeom prst="rect">
            <a:avLst/>
          </a:prstGeom>
          <a:solidFill>
            <a:srgbClr val="33333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41720459" y="29845152"/>
            <a:ext cx="1005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A25AEA-CC31-E9BB-781F-C3B198BC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924" y="16251201"/>
            <a:ext cx="16111790" cy="9595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DB6F16-105B-AD77-3BD4-8778DA23C5F3}"/>
              </a:ext>
            </a:extLst>
          </p:cNvPr>
          <p:cNvSpPr txBox="1"/>
          <p:nvPr/>
        </p:nvSpPr>
        <p:spPr>
          <a:xfrm>
            <a:off x="35208604" y="17275059"/>
            <a:ext cx="94906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sz="3600" dirty="0"/>
          </a:p>
          <a:p>
            <a:endParaRPr lang="en-CA" sz="3600" dirty="0"/>
          </a:p>
          <a:p>
            <a:r>
              <a:rPr lang="en-CA" sz="3600" dirty="0"/>
              <a:t> SCAN TO EXPLORE </a:t>
            </a:r>
            <a:endParaRPr lang="en-CA" sz="3600" b="1" dirty="0">
              <a:solidFill>
                <a:srgbClr val="E63946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36E1C-02D7-9C39-067F-79452FC26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3074" y="3304691"/>
            <a:ext cx="4078321" cy="2317231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7BAA0017-4EED-686B-EF08-5B40644C4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1919" y="19152714"/>
            <a:ext cx="6190903" cy="619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3C3516F99F614B969C4D76671A5A08" ma:contentTypeVersion="16" ma:contentTypeDescription="Create a new document." ma:contentTypeScope="" ma:versionID="1934327814b4c3c87b1b744ce5a923c2">
  <xsd:schema xmlns:xsd="http://www.w3.org/2001/XMLSchema" xmlns:xs="http://www.w3.org/2001/XMLSchema" xmlns:p="http://schemas.microsoft.com/office/2006/metadata/properties" xmlns:ns2="79633a3a-381b-4db3-a1f5-d5e5f3564997" xmlns:ns3="1f90ba80-b527-4106-9f71-68cac0b6de9a" xmlns:ns4="d138a47d-dc5e-4040-b149-47ac2695de23" targetNamespace="http://schemas.microsoft.com/office/2006/metadata/properties" ma:root="true" ma:fieldsID="c459736a14a54023abc236c28eed1f25" ns2:_="" ns3:_="" ns4:_="">
    <xsd:import namespace="79633a3a-381b-4db3-a1f5-d5e5f3564997"/>
    <xsd:import namespace="1f90ba80-b527-4106-9f71-68cac0b6de9a"/>
    <xsd:import namespace="d138a47d-dc5e-4040-b149-47ac2695de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33a3a-381b-4db3-a1f5-d5e5f3564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db5c4b-1f5d-4e56-b7d1-1f11c4423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0ba80-b527-4106-9f71-68cac0b6de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2af03a3-7807-4087-841e-2a6e8020897a}" ma:internalName="TaxCatchAll" ma:showField="CatchAllData" ma:web="d138a47d-dc5e-4040-b149-47ac2695de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8a47d-dc5e-4040-b149-47ac2695de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TaxCatchAll xmlns="1f90ba80-b527-4106-9f71-68cac0b6de9a" xsi:nil="true"/>
    <lcf76f155ced4ddcb4097134ff3c332f xmlns="79633a3a-381b-4db3-a1f5-d5e5f35649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43E876-7134-43CB-A145-34B63A4D8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633a3a-381b-4db3-a1f5-d5e5f3564997"/>
    <ds:schemaRef ds:uri="1f90ba80-b527-4106-9f71-68cac0b6de9a"/>
    <ds:schemaRef ds:uri="d138a47d-dc5e-4040-b149-47ac2695d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D7DD4D-914D-451F-AF1E-B46300863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A36945-6F17-4C84-BFF7-FE0370757AF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1f90ba80-b527-4106-9f71-68cac0b6de9a"/>
    <ds:schemaRef ds:uri="79633a3a-381b-4db3-a1f5-d5e5f3564997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</TotalTime>
  <Words>613</Words>
  <Application>Microsoft Office PowerPoint</Application>
  <PresentationFormat>Custom</PresentationFormat>
  <Paragraphs>147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Book Antiqua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Jeremy</dc:creator>
  <cp:lastModifiedBy>Burchell,Thomas</cp:lastModifiedBy>
  <cp:revision>58</cp:revision>
  <cp:lastPrinted>2017-03-31T17:02:50Z</cp:lastPrinted>
  <dcterms:created xsi:type="dcterms:W3CDTF">2009-04-02T15:37:03Z</dcterms:created>
  <dcterms:modified xsi:type="dcterms:W3CDTF">2026-03-24T13:57:33Z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0x010100FE3C3516F99F614B969C4D76671A5A08</vt:lpwstr>
  </property>
  <property fmtid="{D5CDD505-2E9C-101B-9397-08002B2CF9AE}" pid="3" name="MediaServiceImageTags">
    <vt:lpwstr/>
  </property>
</Properties>
</file>